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8" r:id="rId9"/>
    <p:sldId id="263" r:id="rId10"/>
    <p:sldId id="270" r:id="rId11"/>
    <p:sldId id="264" r:id="rId12"/>
    <p:sldId id="265" r:id="rId13"/>
    <p:sldId id="266" r:id="rId14"/>
    <p:sldId id="267" r:id="rId15"/>
    <p:sldId id="269"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47446"/>
  </p:normalViewPr>
  <p:slideViewPr>
    <p:cSldViewPr snapToGrid="0" snapToObjects="1">
      <p:cViewPr varScale="1">
        <p:scale>
          <a:sx n="61" d="100"/>
          <a:sy n="61" d="100"/>
        </p:scale>
        <p:origin x="3312" y="192"/>
      </p:cViewPr>
      <p:guideLst>
        <p:guide orient="horz" pos="2160"/>
        <p:guide pos="2880"/>
      </p:guideLst>
    </p:cSldViewPr>
  </p:slideViewPr>
  <p:notesTextViewPr>
    <p:cViewPr>
      <p:scale>
        <a:sx n="175" d="100"/>
        <a:sy n="175" d="100"/>
      </p:scale>
      <p:origin x="0" y="-160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03508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ただいまから、「視線誘導を用いたVRアルペンスキー トレーニングシステムに関する研究」という題目で発表します。木原です。よろしくお願いいたします。</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まず背景です</a:t>
            </a:r>
            <a:r>
              <a:rPr lang="ja-JP" altLang="en-US"/>
              <a:t>。アルペンスキーは，雪上の斜面を高速で滑走しながら，設置された旗を正しい順序で通過して、そのタイムを競う競技です． 高速で変化する雪面の状況や次の旗門の位置を瞬時に判断して，最適な滑走ラインを計画することが求められます。 その判断材料となる情報の大部分は視覚から得ており，適切な視覚情報の取得が，効率的な身体動作の制御につながると考えられています。</a:t>
            </a:r>
            <a:endParaRPr lang="en-US" altLang="ja-JP"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スポーツにおける視線</a:t>
            </a:r>
            <a:r>
              <a:rPr lang="ja-JP" altLang="en-US"/>
              <a:t>の</a:t>
            </a:r>
            <a:r>
              <a:rPr dirty="0" err="1"/>
              <a:t>研究として、バスケットボールやゴルフなどの静的なターゲットを狙う競技では</a:t>
            </a:r>
            <a:r>
              <a:rPr dirty="0"/>
              <a:t>、「Quiet </a:t>
            </a:r>
            <a:r>
              <a:rPr dirty="0" err="1"/>
              <a:t>Eye」と呼ばれる、動作</a:t>
            </a:r>
            <a:r>
              <a:rPr lang="ja-JP" altLang="en-US"/>
              <a:t>を行う</a:t>
            </a:r>
            <a:r>
              <a:rPr dirty="0" err="1"/>
              <a:t>前に視線</a:t>
            </a:r>
            <a:r>
              <a:rPr lang="ja-JP" altLang="en-US"/>
              <a:t>をターゲット</a:t>
            </a:r>
            <a:r>
              <a:rPr dirty="0" err="1"/>
              <a:t>に長く固定する行動</a:t>
            </a:r>
            <a:r>
              <a:rPr lang="ja-JP" altLang="en-US"/>
              <a:t>が重要であると考えられています。</a:t>
            </a:r>
            <a:endParaRPr lang="en-US" altLang="ja-JP" dirty="0"/>
          </a:p>
          <a:p>
            <a:r>
              <a:rPr lang="en-US" dirty="0" err="1"/>
              <a:t>熟練者は非熟練者に比べで、このQuiet</a:t>
            </a:r>
            <a:r>
              <a:rPr lang="en-US" dirty="0"/>
              <a:t> </a:t>
            </a:r>
            <a:r>
              <a:rPr lang="en-US" dirty="0" err="1"/>
              <a:t>eyeの持続時間が有意に長いことが報告されています</a:t>
            </a:r>
            <a:r>
              <a:rPr lang="en-US" dirty="0"/>
              <a:t>。</a:t>
            </a:r>
          </a:p>
          <a:p>
            <a:r>
              <a:rPr lang="ja-JP" altLang="en-US"/>
              <a:t>また視線に関して</a:t>
            </a:r>
            <a:r>
              <a:rPr dirty="0" err="1"/>
              <a:t>トレーニングすることで、競技</a:t>
            </a:r>
            <a:r>
              <a:rPr lang="ja-JP" altLang="en-US"/>
              <a:t>自体の</a:t>
            </a:r>
            <a:r>
              <a:rPr dirty="0" err="1"/>
              <a:t>パフォーマンスが向上することも報告されています</a:t>
            </a:r>
            <a:r>
              <a:rPr dirty="0"/>
              <a:t>。</a:t>
            </a:r>
          </a:p>
          <a:p>
            <a:endParaRPr dirty="0"/>
          </a:p>
          <a:p>
            <a:r>
              <a:rPr dirty="0" err="1"/>
              <a:t>しかし、スキーのような動的な環境</a:t>
            </a:r>
            <a:r>
              <a:rPr lang="ja-JP" altLang="en-US"/>
              <a:t>においては</a:t>
            </a:r>
            <a:r>
              <a:rPr dirty="0"/>
              <a:t>、</a:t>
            </a:r>
            <a:r>
              <a:rPr dirty="0" err="1"/>
              <a:t>スキーの熟練者と非熟練者で</a:t>
            </a:r>
            <a:r>
              <a:rPr lang="en-US" dirty="0" err="1"/>
              <a:t>QE</a:t>
            </a:r>
            <a:r>
              <a:rPr dirty="0" err="1"/>
              <a:t>に有意な差はありませんでした</a:t>
            </a:r>
            <a:r>
              <a:rPr dirty="0"/>
              <a:t>。</a:t>
            </a:r>
          </a:p>
          <a:p>
            <a:r>
              <a:rPr lang="ja-JP" altLang="en-US"/>
              <a:t>スキーでは</a:t>
            </a:r>
            <a:r>
              <a:rPr dirty="0"/>
              <a:t>、「</a:t>
            </a:r>
            <a:r>
              <a:rPr lang="ja-JP" altLang="en-US"/>
              <a:t>いつ、</a:t>
            </a:r>
            <a:r>
              <a:rPr dirty="0" err="1"/>
              <a:t>どこを</a:t>
            </a:r>
            <a:r>
              <a:rPr lang="ja-JP" altLang="en-US"/>
              <a:t>見るのかが</a:t>
            </a:r>
            <a:r>
              <a:rPr dirty="0"/>
              <a:t>」</a:t>
            </a:r>
            <a:r>
              <a:rPr lang="ja-JP" altLang="en-US"/>
              <a:t>に関して有意に差がありました。</a:t>
            </a:r>
            <a:endParaRPr lang="en-US" altLang="ja-JP" dirty="0"/>
          </a:p>
          <a:p>
            <a:r>
              <a:rPr lang="ja-JP" altLang="en-US"/>
              <a:t>具体的には、</a:t>
            </a:r>
            <a:r>
              <a:rPr dirty="0"/>
              <a:t>熟練者は、2つ先の旗門を、ターンが始まる前の早い段階で見る</a:t>
            </a:r>
            <a:r>
              <a:rPr lang="ja-JP" altLang="en-US"/>
              <a:t>という</a:t>
            </a:r>
            <a:r>
              <a:rPr dirty="0"/>
              <a:t>「</a:t>
            </a:r>
            <a:r>
              <a:rPr dirty="0" err="1"/>
              <a:t>先読み」を行っていることが明らかになっています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しかし、この視線行動を実際の現場で指導することには大きな課題があります。</a:t>
            </a:r>
            <a:endParaRPr lang="en-US" altLang="ja-JP" dirty="0"/>
          </a:p>
          <a:p>
            <a:r>
              <a:rPr lang="ja-JP" altLang="en-US"/>
              <a:t> まず、</a:t>
            </a:r>
            <a:r>
              <a:rPr lang="ja-JP" altLang="en-US" b="1"/>
              <a:t>滑走は高速で行われるため、指導者が学習者の視線を外から確認することは困難</a:t>
            </a:r>
            <a:r>
              <a:rPr lang="ja-JP" altLang="en-US"/>
              <a:t>です。 さらに、</a:t>
            </a:r>
            <a:r>
              <a:rPr lang="ja-JP" altLang="en-US" b="1"/>
              <a:t>初心者は恐怖心から無意識に足元や目の前の旗門を凝視してしまう傾向</a:t>
            </a:r>
            <a:r>
              <a:rPr lang="ja-JP" altLang="en-US"/>
              <a:t>が強く、単に**</a:t>
            </a:r>
            <a:r>
              <a:rPr lang="en-US" altLang="ja-JP" dirty="0"/>
              <a:t>『</a:t>
            </a:r>
            <a:r>
              <a:rPr lang="ja-JP" altLang="en-US"/>
              <a:t>前を見て</a:t>
            </a:r>
            <a:r>
              <a:rPr lang="en-US" altLang="ja-JP" dirty="0"/>
              <a:t>』</a:t>
            </a:r>
            <a:r>
              <a:rPr lang="ja-JP" altLang="en-US"/>
              <a:t>という口頭指示だけでは、具体的に</a:t>
            </a:r>
            <a:r>
              <a:rPr lang="en-US" altLang="ja-JP" dirty="0"/>
              <a:t>『</a:t>
            </a:r>
            <a:r>
              <a:rPr lang="ja-JP" altLang="en-US"/>
              <a:t>いつ・どこ</a:t>
            </a:r>
            <a:r>
              <a:rPr lang="en-US" altLang="ja-JP" dirty="0"/>
              <a:t>』</a:t>
            </a:r>
            <a:r>
              <a:rPr lang="ja-JP" altLang="en-US"/>
              <a:t>を見ればよいかが伝わらず、改善につなげることが難しい**のが現状です。</a:t>
            </a:r>
          </a:p>
          <a:p>
            <a:r>
              <a:rPr lang="ja-JP" altLang="en-US"/>
              <a:t>そこで本研究では、視線の計測と可視化が可能な</a:t>
            </a:r>
            <a:r>
              <a:rPr lang="en" altLang="ja-JP" b="1" dirty="0"/>
              <a:t>VR</a:t>
            </a:r>
            <a:r>
              <a:rPr lang="ja-JP" altLang="en-US" b="1"/>
              <a:t>環境</a:t>
            </a:r>
            <a:r>
              <a:rPr lang="ja-JP" altLang="en-US"/>
              <a:t>に着目しました。 </a:t>
            </a:r>
            <a:r>
              <a:rPr lang="en" altLang="ja-JP" dirty="0"/>
              <a:t>VR</a:t>
            </a:r>
            <a:r>
              <a:rPr lang="ja-JP" altLang="en-US"/>
              <a:t>を用いて、見るべき対象を直接的に視覚誘導することで、口頭指導では難しい</a:t>
            </a:r>
            <a:r>
              <a:rPr lang="en-US" altLang="ja-JP" dirty="0"/>
              <a:t>『</a:t>
            </a:r>
            <a:r>
              <a:rPr lang="ja-JP" altLang="en-US"/>
              <a:t>熟練者の視線戦略</a:t>
            </a:r>
            <a:r>
              <a:rPr lang="en-US" altLang="ja-JP" dirty="0"/>
              <a:t>』</a:t>
            </a:r>
            <a:r>
              <a:rPr lang="ja-JP" altLang="en-US"/>
              <a:t>を、初心者に効果的に習得させることを目的とします。」</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提案手法についてです。本研究では、単に視線を変えさせるだけでなく、最終的に支援のない実環境でのパフォーマンス向上に繋げることを目指しています。そのため、介入度の異なる2つの手法を設計しました。</a:t>
            </a:r>
          </a:p>
          <a:p>
            <a:endParaRPr dirty="0"/>
          </a:p>
          <a:p>
            <a:r>
              <a:rPr dirty="0"/>
              <a:t>一つ目は「タスクベースガイダンス」です。これは常に正解を強調表示するもので、強制的に理想的な型を覚えさせることを狙いとしています。</a:t>
            </a:r>
          </a:p>
          <a:p>
            <a:endParaRPr dirty="0"/>
          </a:p>
          <a:p>
            <a:r>
              <a:rPr dirty="0"/>
              <a:t>しかし、常時手厚い支援を行うと、ユーザがシステムに「依存」してしまい、自ら見る場所を探さなくなる恐れがあります。そこで二つ目の「アダプティブガイダンス」を用意しました。これはユーザの視線が手前に停滞している時だけ介入する控えめな手法で、ユーザの「自律的」な視線移動を促し、実際のパフォーマンスへの転移を狙ったものです。</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システムの実装です。Meta</a:t>
            </a:r>
            <a:r>
              <a:rPr dirty="0"/>
              <a:t> Quest Proのアイトラッキング機能と屋内スキーシミュレータを連携させました。Unity上で、ユーザの視線と旗門の位置関係を毎フレーム判定し、各ガイダンス手法に基づいた視覚フィードバックを生成します。</a:t>
            </a:r>
          </a:p>
          <a:p>
            <a:endParaRPr dirty="0"/>
          </a:p>
          <a:p>
            <a:r>
              <a:rPr dirty="0" err="1"/>
              <a:t>また、コースは固定ではなくランダムに生成することで、配置の記憶による慣れを防ぎ、常に視覚探索が必要な環境を作りました</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評価実験</a:t>
            </a:r>
            <a:r>
              <a:rPr lang="ja-JP" altLang="en-US"/>
              <a:t>で、</a:t>
            </a:r>
            <a:r>
              <a:rPr dirty="0"/>
              <a:t>12名の初心者を対象に、提案手法の効果を検証しました。</a:t>
            </a:r>
          </a:p>
          <a:p>
            <a:endParaRPr dirty="0"/>
          </a:p>
          <a:p>
            <a:r>
              <a:rPr dirty="0"/>
              <a:t>検証にあたり、3つの仮説を立てました。1つ目は</a:t>
            </a:r>
            <a:r>
              <a:rPr lang="ja-JP" altLang="en-US"/>
              <a:t>提案手法</a:t>
            </a:r>
            <a:r>
              <a:rPr dirty="0"/>
              <a:t>により先読みが増えること、2つ目はそ</a:t>
            </a:r>
            <a:r>
              <a:rPr lang="ja-JP" altLang="en-US"/>
              <a:t>の先読みが</a:t>
            </a:r>
            <a:r>
              <a:rPr dirty="0"/>
              <a:t>パフォーマンス向上に寄与すること、3つ目はアダプティブ</a:t>
            </a:r>
            <a:r>
              <a:rPr lang="ja-JP" altLang="en-US"/>
              <a:t>ガイダンスがタスクベースガイダンスと同等に先読みが増え、よりパフォーマンス</a:t>
            </a:r>
            <a:endParaRPr dirty="0"/>
          </a:p>
          <a:p>
            <a:r>
              <a:rPr lang="ja-JP" altLang="en-US"/>
              <a:t>の向上に寄与する。</a:t>
            </a:r>
            <a:r>
              <a:rPr dirty="0"/>
              <a:t>実験は、誘導を行わないベースライン条件を含む3条件で行い、それぞれの条件でのトレーニング効果を比較しました。</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B20D5-BE56-D15F-07BA-E0630DE49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74B99D-7DA7-B82A-47DF-A891DAC1FED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6E3C905-1EE9-84D2-438E-D9E19D674282}"/>
              </a:ext>
            </a:extLst>
          </p:cNvPr>
          <p:cNvSpPr>
            <a:spLocks noGrp="1"/>
          </p:cNvSpPr>
          <p:nvPr>
            <p:ph type="body" sz="quarter" idx="3"/>
          </p:nvPr>
        </p:nvSpPr>
        <p:spPr/>
        <p:txBody>
          <a:bodyPr/>
          <a:lstStyle/>
          <a:p>
            <a:r>
              <a:rPr lang="ja-JP" altLang="en-US"/>
              <a:t>実験手順です。 事前アンケートに答えてもらい、アイトラッキングのキャリブレーションと、システムに慣れるための練習の行ってもらった。</a:t>
            </a:r>
            <a:endParaRPr lang="en-US" altLang="ja-JP" dirty="0"/>
          </a:p>
          <a:p>
            <a:r>
              <a:rPr lang="ja-JP" altLang="en-US"/>
              <a:t>その後に、各条件について、 まず誘導なし</a:t>
            </a:r>
            <a:r>
              <a:rPr lang="ja-JP" altLang="en-US" b="1"/>
              <a:t>で滑走してもらいトレーニング前のパフォーマンスを測定します</a:t>
            </a:r>
            <a:r>
              <a:rPr lang="ja-JP" altLang="en" b="1"/>
              <a:t>、 </a:t>
            </a:r>
            <a:r>
              <a:rPr lang="ja-JP" altLang="en-US" b="1"/>
              <a:t>次に各条件の手法でトレーニングを行います。 そして再び</a:t>
            </a:r>
            <a:r>
              <a:rPr lang="en-US" altLang="ja-JP" dirty="0"/>
              <a:t>『</a:t>
            </a:r>
            <a:r>
              <a:rPr lang="ja-JP" altLang="en-US"/>
              <a:t>誘導なし</a:t>
            </a:r>
            <a:r>
              <a:rPr lang="en-US" altLang="ja-JP" dirty="0"/>
              <a:t>』</a:t>
            </a:r>
            <a:r>
              <a:rPr lang="ja-JP" altLang="en-US"/>
              <a:t>でパフォーマンスの測定を行いました。</a:t>
            </a:r>
            <a:endParaRPr lang="en-US" altLang="ja-JP" dirty="0"/>
          </a:p>
          <a:p>
            <a:r>
              <a:rPr lang="ja-JP" altLang="en-US"/>
              <a:t>最後に事後アンケートに答えてもらって終了です。</a:t>
            </a:r>
            <a:endParaRPr lang="en-US" altLang="ja-JP" dirty="0"/>
          </a:p>
          <a:p>
            <a:endParaRPr lang="ja-JP" altLang="en-US"/>
          </a:p>
          <a:p>
            <a:r>
              <a:rPr lang="ja-JP" altLang="en-US"/>
              <a:t>評価指標については。旗門の通過率と、どの対象をどれくらい見ていたかの割合の分布、また誘導対象である「</a:t>
            </a:r>
            <a:r>
              <a:rPr lang="en-US" altLang="ja-JP" dirty="0"/>
              <a:t>2</a:t>
            </a:r>
            <a:r>
              <a:rPr lang="ja-JP" altLang="en-US"/>
              <a:t>つ先の旗門」をどれだけ見ることができたかの回数の割合を指標としています。 </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また、本手法の精神的な負荷やシステムの使いやすさの評価として、</a:t>
            </a:r>
            <a:r>
              <a:rPr lang="en-US" altLang="ja-JP" dirty="0" err="1"/>
              <a:t>nasa-tlx</a:t>
            </a:r>
            <a:r>
              <a:rPr lang="ja-JP" altLang="en-US"/>
              <a:t>と</a:t>
            </a:r>
            <a:r>
              <a:rPr lang="en-US" altLang="ja-JP" dirty="0"/>
              <a:t>sus</a:t>
            </a:r>
            <a:r>
              <a:rPr lang="ja-JP" altLang="en-US"/>
              <a:t>を用いた。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さらに、主観的な滑走に対する感覚やシステムの介入に対する受け止め方を評価するため、リッカート尺度形式のアンケートも行いました。</a:t>
            </a:r>
            <a:endParaRPr lang="en-US" altLang="ja-JP" dirty="0"/>
          </a:p>
          <a:p>
            <a:endParaRPr dirty="0"/>
          </a:p>
        </p:txBody>
      </p:sp>
      <p:sp>
        <p:nvSpPr>
          <p:cNvPr id="4" name="Slide Number Placeholder 3">
            <a:extLst>
              <a:ext uri="{FF2B5EF4-FFF2-40B4-BE49-F238E27FC236}">
                <a16:creationId xmlns:a16="http://schemas.microsoft.com/office/drawing/2014/main" id="{DD849374-EF7C-BE82-4346-8D4565767188}"/>
              </a:ext>
            </a:extLst>
          </p:cNvPr>
          <p:cNvSpPr>
            <a:spLocks noGrp="1"/>
          </p:cNvSpPr>
          <p:nvPr>
            <p:ph type="sldNum" sz="quarter" idx="5"/>
          </p:nvPr>
        </p:nvSpPr>
        <p:spPr/>
      </p:sp>
    </p:spTree>
    <p:extLst>
      <p:ext uri="{BB962C8B-B14F-4D97-AF65-F5344CB8AC3E}">
        <p14:creationId xmlns:p14="http://schemas.microsoft.com/office/powerpoint/2010/main" val="3740078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まず、視線の変化についてですが、 タスクベースの条件では、手前の雪面を見る時間の割合が減り、</a:t>
            </a:r>
            <a:r>
              <a:rPr lang="en-US" altLang="ja-JP" dirty="0"/>
              <a:t>2</a:t>
            </a:r>
            <a:r>
              <a:rPr lang="ja-JP" altLang="en-US"/>
              <a:t>つ先の旗を見る割合が増える傾向が見られました。</a:t>
            </a:r>
            <a:r>
              <a:rPr lang="en-US" altLang="ja-JP" dirty="0"/>
              <a:t>2</a:t>
            </a:r>
            <a:r>
              <a:rPr lang="ja-JP" altLang="en-US"/>
              <a:t>つ先の旗を見た回数に関しても、タスクベース条件では、</a:t>
            </a:r>
            <a:endParaRPr lang="en-US" altLang="ja-JP" dirty="0"/>
          </a:p>
          <a:p>
            <a:r>
              <a:rPr lang="ja-JP" altLang="en-US"/>
              <a:t>ベースラインと比較して増加傾向を示しました。アダプティブの条件はベースラインとほとんど変わりませんでした。</a:t>
            </a:r>
            <a:endParaRPr lang="en-US" altLang="ja-JP"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E984E-F737-1468-00DD-9432EF8C4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11772-6954-DDD0-E696-33A6307C20B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0DDE409-4980-27E7-5129-F99DB9E926BA}"/>
              </a:ext>
            </a:extLst>
          </p:cNvPr>
          <p:cNvSpPr>
            <a:spLocks noGrp="1"/>
          </p:cNvSpPr>
          <p:nvPr>
            <p:ph type="body" sz="quarter" idx="3"/>
          </p:nvPr>
        </p:nvSpPr>
        <p:spPr/>
        <p:txBody>
          <a:bodyPr/>
          <a:lstStyle/>
          <a:p>
            <a:r>
              <a:rPr lang="ja-JP" altLang="en-US"/>
              <a:t>まず、視線の変化についてですが、 タスクベースの条件では、手前の雪面を見る時間の割合が減り、</a:t>
            </a:r>
            <a:r>
              <a:rPr lang="en-US" altLang="ja-JP" dirty="0"/>
              <a:t>2</a:t>
            </a:r>
            <a:r>
              <a:rPr lang="ja-JP" altLang="en-US"/>
              <a:t>つ先の旗を見る割合が増える傾向が見られました。</a:t>
            </a:r>
            <a:r>
              <a:rPr lang="en-US" altLang="ja-JP" dirty="0"/>
              <a:t>2</a:t>
            </a:r>
            <a:r>
              <a:rPr lang="ja-JP" altLang="en-US"/>
              <a:t>つ先の旗を見た回数に関しても、タスクベース条件では、</a:t>
            </a:r>
            <a:endParaRPr lang="en-US" altLang="ja-JP" dirty="0"/>
          </a:p>
          <a:p>
            <a:r>
              <a:rPr lang="ja-JP" altLang="en-US"/>
              <a:t>ベースラインと比較して増加傾向を示しました。アダプティブの条件はベースラインとほとんど変わりませんでした。</a:t>
            </a:r>
            <a:endParaRPr lang="en-US" altLang="ja-JP" dirty="0"/>
          </a:p>
          <a:p>
            <a:r>
              <a:rPr lang="ja-JP" altLang="en-US"/>
              <a:t>旗門の通過率に関しても、タスクベースは各条件での有意さなく、</a:t>
            </a:r>
            <a:endParaRPr lang="en-US" altLang="ja-JP" dirty="0"/>
          </a:p>
        </p:txBody>
      </p:sp>
      <p:sp>
        <p:nvSpPr>
          <p:cNvPr id="4" name="Slide Number Placeholder 3">
            <a:extLst>
              <a:ext uri="{FF2B5EF4-FFF2-40B4-BE49-F238E27FC236}">
                <a16:creationId xmlns:a16="http://schemas.microsoft.com/office/drawing/2014/main" id="{340BD03B-9C5E-34C5-27A3-F06E73521238}"/>
              </a:ext>
            </a:extLst>
          </p:cNvPr>
          <p:cNvSpPr>
            <a:spLocks noGrp="1"/>
          </p:cNvSpPr>
          <p:nvPr>
            <p:ph type="sldNum" sz="quarter" idx="5"/>
          </p:nvPr>
        </p:nvSpPr>
        <p:spPr/>
      </p:sp>
    </p:spTree>
    <p:extLst>
      <p:ext uri="{BB962C8B-B14F-4D97-AF65-F5344CB8AC3E}">
        <p14:creationId xmlns:p14="http://schemas.microsoft.com/office/powerpoint/2010/main" val="1002633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続いて主観評価の結果です。アンケートでは、タスクベース条件が「役立った」等の項目で高評価でしたが、同時に強い「強制力」を感じさせていました。</a:t>
            </a:r>
          </a:p>
          <a:p>
            <a:endParaRPr/>
          </a:p>
          <a:p>
            <a:r>
              <a:t>総合的な選好、つまり「どの条件が良かったか」という質問に対しては、介入の少ないアダプティブ条件が有意に好まれる結果となりました。</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考察です。仮説1に対し、強い介入を行うタスクベース条件でのみ視線の変容が確認されました。アダプティブ条件は、初期段階の初心者にとっては刺激が弱すぎた可能性があります。</a:t>
            </a:r>
          </a:p>
          <a:p>
            <a:endParaRPr dirty="0"/>
          </a:p>
          <a:p>
            <a:r>
              <a:rPr dirty="0"/>
              <a:t>仮説2に対し、視線は変わりましたが、パフォーマンスへの即時的な転移は見られませんでした。これは、見た情報を身体動作に変換する運動学習プロセスに時間がかかるためと考えられます。</a:t>
            </a:r>
          </a:p>
          <a:p>
            <a:endParaRPr dirty="0"/>
          </a:p>
          <a:p>
            <a:r>
              <a:rPr dirty="0"/>
              <a:t>仮説3に対し、アダプティブ条件は行動変容効果こそ低かったものの、ユーザからは最も支持されました。これにより、学習効果とユーザ受容性の間にはトレードオフが存在することが明らかになりました。</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議論と今後の展望です。今回の実験で、視線を変えることには成功しましたが、即座にパフォーマンス向上には直結しないという課題が浮き彫りになりました。</a:t>
            </a:r>
          </a:p>
          <a:p>
            <a:endParaRPr/>
          </a:p>
          <a:p>
            <a:r>
              <a:t>今後は、「見る場所」だけでなく「タイミング」を聴覚的に支援したり、熟練者の視線の動きそのものを可視化することで、視覚と身体動作の協調をより直接的に促す手法を検討しています。また、AR技術を用いた実環境への応用も目指していきます。</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結論です。本研究では、VRを用いた視覚的介入が、スキー初心者の「先読み」行動の変容に有効であることを示しました。特に明示的な介入が高い効果を示しましたが、ユーザの受容性とのバランスを考慮し、学習フェーズに応じて手法を使い分ける重要性が示唆されました。</a:t>
            </a:r>
          </a:p>
          <a:p>
            <a:endParaRPr/>
          </a:p>
          <a:p>
            <a:r>
              <a:t>本研究は、知覚スキルと身体動作をつなぐ新しいトレーニング手法として、スポーツ科学やHCI分野に貢献するものと考えています。</a:t>
            </a:r>
          </a:p>
          <a:p>
            <a:endParaRPr/>
          </a:p>
          <a:p>
            <a:r>
              <a:t>以上で発表を終わります。ありがとうございました。</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A4462-A75E-2F40-1F85-2F406ADCD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586C3-35B4-8972-81F7-3D903904985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92CCAA8-E4CC-6CB2-52F9-63ACA6B6F046}"/>
              </a:ext>
            </a:extLst>
          </p:cNvPr>
          <p:cNvSpPr>
            <a:spLocks noGrp="1"/>
          </p:cNvSpPr>
          <p:nvPr>
            <p:ph type="body" sz="quarter" idx="3"/>
          </p:nvPr>
        </p:nvSpPr>
        <p:spPr/>
        <p:txBody>
          <a:bodyPr/>
          <a:lstStyle/>
          <a:p>
            <a:r>
              <a:rPr lang="ja-JP" altLang="en-US"/>
              <a:t>質問；</a:t>
            </a:r>
            <a:endParaRPr lang="en-US" altLang="ja-JP" dirty="0"/>
          </a:p>
          <a:p>
            <a:endParaRPr lang="en-US" dirty="0"/>
          </a:p>
          <a:p>
            <a:r>
              <a:rPr lang="ja-JP" altLang="en-US"/>
              <a:t>・滑走のパフォーマンスを測るのに、鬼門の通過率だけ？</a:t>
            </a:r>
            <a:endParaRPr lang="en-US" altLang="ja-JP" dirty="0"/>
          </a:p>
          <a:p>
            <a:r>
              <a:rPr lang="ja-JP" altLang="en-US"/>
              <a:t>・視線の分布はどういう定義で計測しているの？また、旗が重なったときに、奥の旗を見ているか手前を見ているかシステムで判別つかなくない？</a:t>
            </a:r>
            <a:endParaRPr lang="en-US" altLang="ja-JP" dirty="0"/>
          </a:p>
          <a:p>
            <a:r>
              <a:rPr lang="ja-JP" altLang="en-US"/>
              <a:t>・どういう検定を用いたの？なぜその検定を使ったの？事後検定を行う理由は？</a:t>
            </a:r>
            <a:endParaRPr lang="en-US" altLang="ja-JP" dirty="0"/>
          </a:p>
          <a:p>
            <a:r>
              <a:rPr lang="ja-JP" altLang="en-US"/>
              <a:t>・</a:t>
            </a:r>
            <a:r>
              <a:rPr lang="en-US" altLang="ja-JP" dirty="0" err="1"/>
              <a:t>nasa-tlx</a:t>
            </a:r>
            <a:r>
              <a:rPr lang="en-US" altLang="ja-JP" dirty="0"/>
              <a:t>, sus, </a:t>
            </a:r>
            <a:r>
              <a:rPr lang="en-US" altLang="ja-JP" dirty="0" err="1"/>
              <a:t>likert</a:t>
            </a:r>
            <a:r>
              <a:rPr lang="en-US" altLang="ja-JP" dirty="0"/>
              <a:t>-scale</a:t>
            </a:r>
            <a:r>
              <a:rPr lang="ja-JP" altLang="en-US"/>
              <a:t>形式のアンケートとは何？</a:t>
            </a:r>
            <a:endParaRPr lang="en-US" altLang="ja-JP" dirty="0"/>
          </a:p>
          <a:p>
            <a:r>
              <a:rPr lang="ja-JP" altLang="en-US"/>
              <a:t>・キャリブレーションだけして終わり？動作確認は？</a:t>
            </a:r>
            <a:endParaRPr lang="en-US" altLang="ja-JP" dirty="0"/>
          </a:p>
          <a:p>
            <a:r>
              <a:rPr lang="ja-JP" altLang="en-US"/>
              <a:t>・少しでも旗を見たら</a:t>
            </a:r>
            <a:r>
              <a:rPr lang="en-US" altLang="ja-JP" dirty="0"/>
              <a:t>OK</a:t>
            </a:r>
            <a:r>
              <a:rPr lang="ja-JP" altLang="en-US"/>
              <a:t>判定なのはなぜ？</a:t>
            </a:r>
            <a:endParaRPr lang="en-US" altLang="ja-JP" dirty="0"/>
          </a:p>
          <a:p>
            <a:r>
              <a:rPr lang="ja-JP" altLang="en-US"/>
              <a:t>・なぜ関連研究では割合なのに、みたかどうかの回数で評価しているの？</a:t>
            </a:r>
            <a:endParaRPr lang="en-US" altLang="ja-JP" dirty="0"/>
          </a:p>
          <a:p>
            <a:r>
              <a:rPr lang="ja-JP" altLang="en-US"/>
              <a:t>・なぜ</a:t>
            </a:r>
            <a:r>
              <a:rPr lang="en-US" altLang="ja-JP" dirty="0"/>
              <a:t>adaptive</a:t>
            </a:r>
            <a:r>
              <a:rPr lang="ja-JP" altLang="en-US"/>
              <a:t>では減少しているの？悪化しているの？</a:t>
            </a:r>
            <a:r>
              <a:rPr lang="en-US" altLang="ja-JP" dirty="0"/>
              <a:t>Baseline</a:t>
            </a:r>
            <a:r>
              <a:rPr lang="ja-JP" altLang="en-US"/>
              <a:t>に比べても。</a:t>
            </a:r>
            <a:endParaRPr lang="en-US" altLang="ja-JP" dirty="0"/>
          </a:p>
          <a:p>
            <a:r>
              <a:rPr lang="ja-JP" altLang="en-US"/>
              <a:t>・向上量にしたのはなぜ？向上率ではなくて。</a:t>
            </a:r>
            <a:endParaRPr lang="en-US" altLang="ja-JP" dirty="0"/>
          </a:p>
          <a:p>
            <a:r>
              <a:rPr lang="ja-JP" altLang="en-US"/>
              <a:t>・なぜ中央値を用いているの？標準偏差と平均値ではなくて。</a:t>
            </a:r>
            <a:endParaRPr lang="en-US" altLang="ja-JP" dirty="0"/>
          </a:p>
          <a:p>
            <a:r>
              <a:rPr lang="ja-JP" altLang="en-US"/>
              <a:t>・ちゃんと手法によって先読みできているようになっているかは、手法中の視線分布も出すべきでは？</a:t>
            </a:r>
            <a:endParaRPr lang="en-US" altLang="ja-JP" dirty="0"/>
          </a:p>
          <a:p>
            <a:endParaRPr lang="en-US" dirty="0"/>
          </a:p>
          <a:p>
            <a:r>
              <a:rPr lang="en-US" dirty="0"/>
              <a:t>・</a:t>
            </a:r>
            <a:r>
              <a:rPr lang="en-US" dirty="0" err="1"/>
              <a:t>なぜ関連研究で行われていた視線トレーニングを踏襲していないの</a:t>
            </a:r>
            <a:r>
              <a:rPr lang="en-US" dirty="0"/>
              <a:t>？</a:t>
            </a:r>
          </a:p>
          <a:p>
            <a:r>
              <a:rPr lang="en-US" dirty="0"/>
              <a:t>・</a:t>
            </a:r>
            <a:r>
              <a:rPr lang="en-US" dirty="0" err="1"/>
              <a:t>なぜARではなくVR</a:t>
            </a:r>
            <a:r>
              <a:rPr lang="en-US" dirty="0"/>
              <a:t>?</a:t>
            </a:r>
          </a:p>
          <a:p>
            <a:r>
              <a:rPr lang="en-US" dirty="0"/>
              <a:t>・</a:t>
            </a:r>
            <a:r>
              <a:rPr lang="en-US" dirty="0" err="1"/>
              <a:t>なぜ個人差が激しいのか</a:t>
            </a:r>
            <a:r>
              <a:rPr lang="en-US" dirty="0"/>
              <a:t>？</a:t>
            </a:r>
          </a:p>
          <a:p>
            <a:r>
              <a:rPr lang="en-US" dirty="0"/>
              <a:t>・</a:t>
            </a:r>
            <a:r>
              <a:rPr lang="en-US" dirty="0" err="1"/>
              <a:t>なぜ今後の展望であげた内容を最初にやらなかったの？なぜ捨てる選択肢を取ったの</a:t>
            </a:r>
            <a:r>
              <a:rPr lang="en-US" dirty="0"/>
              <a:t>？</a:t>
            </a:r>
            <a:br>
              <a:rPr lang="en-US" dirty="0"/>
            </a:br>
            <a:r>
              <a:rPr lang="en-US" dirty="0"/>
              <a:t>・</a:t>
            </a:r>
            <a:r>
              <a:rPr lang="en-US" dirty="0" err="1"/>
              <a:t>関連研究では、どういうトレーニング手法が行われているの</a:t>
            </a:r>
            <a:r>
              <a:rPr lang="en-US" dirty="0"/>
              <a:t>？</a:t>
            </a:r>
          </a:p>
          <a:p>
            <a:r>
              <a:rPr lang="en-US" dirty="0"/>
              <a:t>・meta quest </a:t>
            </a:r>
            <a:r>
              <a:rPr lang="en-US" dirty="0" err="1"/>
              <a:t>proの視線の精度は</a:t>
            </a:r>
            <a:r>
              <a:rPr lang="en-US" dirty="0"/>
              <a:t>？</a:t>
            </a:r>
          </a:p>
          <a:p>
            <a:endParaRPr lang="en-US" dirty="0"/>
          </a:p>
        </p:txBody>
      </p:sp>
      <p:sp>
        <p:nvSpPr>
          <p:cNvPr id="4" name="Slide Number Placeholder 3">
            <a:extLst>
              <a:ext uri="{FF2B5EF4-FFF2-40B4-BE49-F238E27FC236}">
                <a16:creationId xmlns:a16="http://schemas.microsoft.com/office/drawing/2014/main" id="{0D16E9C2-C1A8-9CDF-5704-A6566F552A35}"/>
              </a:ext>
            </a:extLst>
          </p:cNvPr>
          <p:cNvSpPr>
            <a:spLocks noGrp="1"/>
          </p:cNvSpPr>
          <p:nvPr>
            <p:ph type="sldNum" sz="quarter" idx="5"/>
          </p:nvPr>
        </p:nvSpPr>
        <p:spPr/>
      </p:sp>
    </p:spTree>
    <p:extLst>
      <p:ext uri="{BB962C8B-B14F-4D97-AF65-F5344CB8AC3E}">
        <p14:creationId xmlns:p14="http://schemas.microsoft.com/office/powerpoint/2010/main" val="2239825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dirty="0" err="1"/>
              <a:t>視線誘導を用いたVRアルペンスキ</a:t>
            </a:r>
            <a:r>
              <a:rPr dirty="0"/>
              <a:t>ー</a:t>
            </a:r>
          </a:p>
          <a:p>
            <a:r>
              <a:rPr dirty="0" err="1"/>
              <a:t>トレーニングシステムに関する研究</a:t>
            </a:r>
            <a:endParaRPr dirty="0"/>
          </a:p>
        </p:txBody>
      </p:sp>
      <p:sp>
        <p:nvSpPr>
          <p:cNvPr id="3" name="Subtitle 2"/>
          <p:cNvSpPr>
            <a:spLocks noGrp="1"/>
          </p:cNvSpPr>
          <p:nvPr>
            <p:ph type="subTitle" idx="1"/>
          </p:nvPr>
        </p:nvSpPr>
        <p:spPr/>
        <p:txBody>
          <a:bodyPr>
            <a:normAutofit fontScale="92500" lnSpcReduction="20000"/>
          </a:bodyPr>
          <a:lstStyle/>
          <a:p>
            <a:r>
              <a:t>所属: 東京科学大学 情報理工学院 情報工学系</a:t>
            </a:r>
          </a:p>
          <a:p>
            <a:r>
              <a:t>氏名: 木原 英一</a:t>
            </a:r>
          </a:p>
          <a:p>
            <a:r>
              <a:t>指導教員: 小池英樹 教授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研究背景：スキーにおける視線と課題</a:t>
            </a:r>
          </a:p>
        </p:txBody>
      </p:sp>
      <p:sp>
        <p:nvSpPr>
          <p:cNvPr id="3" name="Content Placeholder 2"/>
          <p:cNvSpPr>
            <a:spLocks noGrp="1"/>
          </p:cNvSpPr>
          <p:nvPr>
            <p:ph idx="1"/>
          </p:nvPr>
        </p:nvSpPr>
        <p:spPr>
          <a:xfrm>
            <a:off x="457200" y="1600200"/>
            <a:ext cx="8229600" cy="5356654"/>
          </a:xfrm>
        </p:spPr>
        <p:txBody>
          <a:bodyPr>
            <a:normAutofit fontScale="92500" lnSpcReduction="20000"/>
          </a:bodyPr>
          <a:lstStyle/>
          <a:p>
            <a:r>
              <a:rPr dirty="0" err="1"/>
              <a:t>スキーにおける視覚情報の重要性</a:t>
            </a:r>
            <a:endParaRPr dirty="0"/>
          </a:p>
          <a:p>
            <a:pPr lvl="1"/>
            <a:r>
              <a:rPr dirty="0"/>
              <a:t>情報の約80%は視覚から取得（コース状況、傾斜、次の旗門）</a:t>
            </a:r>
          </a:p>
          <a:p>
            <a:pPr lvl="1"/>
            <a:r>
              <a:rPr dirty="0" err="1"/>
              <a:t>適切な情報の取得が、身体制御（パフォーマンス）の前提</a:t>
            </a:r>
            <a:endParaRPr dirty="0"/>
          </a:p>
          <a:p>
            <a:r>
              <a:rPr dirty="0" err="1"/>
              <a:t>指導の困難さ</a:t>
            </a:r>
            <a:endParaRPr dirty="0"/>
          </a:p>
          <a:p>
            <a:pPr lvl="1"/>
            <a:r>
              <a:rPr dirty="0" err="1"/>
              <a:t>高速移動：指導者がリアルタイムで視線を確認不可</a:t>
            </a:r>
            <a:endParaRPr dirty="0"/>
          </a:p>
          <a:p>
            <a:pPr lvl="1"/>
            <a:r>
              <a:rPr dirty="0" err="1"/>
              <a:t>無意識化：初心者は恐怖心から「足元・直近」を凝視（トンネル視野</a:t>
            </a:r>
            <a:r>
              <a:rPr dirty="0"/>
              <a:t>）</a:t>
            </a:r>
          </a:p>
          <a:p>
            <a:pPr lvl="1"/>
            <a:r>
              <a:rPr dirty="0" err="1"/>
              <a:t>言語化の限界</a:t>
            </a:r>
            <a:r>
              <a:rPr dirty="0"/>
              <a:t>：「</a:t>
            </a:r>
            <a:r>
              <a:rPr dirty="0" err="1"/>
              <a:t>前を見て」等の指示では具体性に欠ける</a:t>
            </a:r>
            <a:endParaRPr dirty="0"/>
          </a:p>
          <a:p>
            <a:r>
              <a:rPr dirty="0"/>
              <a:t>[ここに論文の図1.1（スキーイメージ）等を挿入]</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関連研究と本研究のアプローチ</a:t>
            </a:r>
          </a:p>
        </p:txBody>
      </p:sp>
      <p:sp>
        <p:nvSpPr>
          <p:cNvPr id="3" name="Content Placeholder 2"/>
          <p:cNvSpPr>
            <a:spLocks noGrp="1"/>
          </p:cNvSpPr>
          <p:nvPr>
            <p:ph idx="1"/>
          </p:nvPr>
        </p:nvSpPr>
        <p:spPr/>
        <p:txBody>
          <a:bodyPr>
            <a:normAutofit fontScale="77500" lnSpcReduction="20000"/>
          </a:bodyPr>
          <a:lstStyle/>
          <a:p>
            <a:r>
              <a:t>他スポーツにおける視線研究</a:t>
            </a:r>
          </a:p>
          <a:p>
            <a:pPr lvl="1"/>
            <a:r>
              <a:t>バスケ、ゴルフ等の静的タスクではQuiet Eye (QE)が重要</a:t>
            </a:r>
          </a:p>
          <a:p>
            <a:pPr lvl="1"/>
            <a:r>
              <a:t>QEトレーニングにより技能自体も向上 [Vickers et al.]</a:t>
            </a:r>
          </a:p>
          <a:p>
            <a:r>
              <a:t>スキー（動的タスク）の特殊性</a:t>
            </a:r>
          </a:p>
          <a:p>
            <a:pPr lvl="1"/>
            <a:r>
              <a:t>絶えず環境が変化するため、静的なQE理論は適用不可</a:t>
            </a:r>
          </a:p>
          <a:p>
            <a:pPr lvl="1"/>
            <a:r>
              <a:t>Decroixらの研究：熟練者と非熟練者でQE長に差なし</a:t>
            </a:r>
          </a:p>
          <a:p>
            <a:pPr lvl="1"/>
            <a:r>
              <a:t>重要指標：「位置とタイミング」</a:t>
            </a:r>
          </a:p>
          <a:p>
            <a:pPr lvl="1"/>
            <a:r>
              <a:t>熟練者はターン動作前に「2つ先の旗門」を見る</a:t>
            </a:r>
          </a:p>
          <a:p>
            <a:r>
              <a:t>結論：スキーではQEではなく「先読み(Look-ahead)」が必要</a:t>
            </a:r>
          </a:p>
          <a:p>
            <a:r>
              <a:t>[ここに論文の図2.1（Decroixの定義図）を挿入]</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研究目的</a:t>
            </a:r>
          </a:p>
        </p:txBody>
      </p:sp>
      <p:sp>
        <p:nvSpPr>
          <p:cNvPr id="3" name="Content Placeholder 2"/>
          <p:cNvSpPr>
            <a:spLocks noGrp="1"/>
          </p:cNvSpPr>
          <p:nvPr>
            <p:ph idx="1"/>
          </p:nvPr>
        </p:nvSpPr>
        <p:spPr/>
        <p:txBody>
          <a:bodyPr>
            <a:normAutofit fontScale="92500"/>
          </a:bodyPr>
          <a:lstStyle/>
          <a:p>
            <a:r>
              <a:t>目的</a:t>
            </a:r>
          </a:p>
          <a:p>
            <a:pPr lvl="1"/>
            <a:r>
              <a:t>VR環境の特性を活用</a:t>
            </a:r>
          </a:p>
          <a:p>
            <a:pPr lvl="1"/>
            <a:r>
              <a:t>初心者に熟練者の「先読み（2つ先の旗門への視線移動）」を効果的に習得させる</a:t>
            </a:r>
          </a:p>
          <a:p>
            <a:r>
              <a:t>アプローチ</a:t>
            </a:r>
          </a:p>
          <a:p>
            <a:pPr lvl="1"/>
            <a:r>
              <a:t>アイトラッキング搭載HMD + スキーシミュレータ</a:t>
            </a:r>
          </a:p>
          <a:p>
            <a:pPr lvl="1"/>
            <a:r>
              <a:t>視線行動を計測し、見るべき対象（2つ先の旗門）を視覚的に誘導</a:t>
            </a:r>
          </a:p>
          <a:p>
            <a:r>
              <a:t>[ここにシステム概要図があれば挿入]</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提案手法：2種類のガイダンス</a:t>
            </a:r>
          </a:p>
        </p:txBody>
      </p:sp>
      <p:sp>
        <p:nvSpPr>
          <p:cNvPr id="3" name="Content Placeholder 2"/>
          <p:cNvSpPr>
            <a:spLocks noGrp="1"/>
          </p:cNvSpPr>
          <p:nvPr>
            <p:ph idx="1"/>
          </p:nvPr>
        </p:nvSpPr>
        <p:spPr/>
        <p:txBody>
          <a:bodyPr>
            <a:normAutofit fontScale="85000" lnSpcReduction="20000"/>
          </a:bodyPr>
          <a:lstStyle/>
          <a:p>
            <a:r>
              <a:t>なぜ2つの手法か？（依存 vs 自律）</a:t>
            </a:r>
          </a:p>
          <a:p>
            <a:pPr lvl="1"/>
            <a:r>
              <a:t>手厚すぎる支援はシステムへの「依存」を招く</a:t>
            </a:r>
          </a:p>
          <a:p>
            <a:pPr lvl="1"/>
            <a:r>
              <a:t>支援がない実環境でのパフォーマンス低下リスク</a:t>
            </a:r>
          </a:p>
          <a:p>
            <a:r>
              <a:t>手法1：Task-based Guidance（タスクベース）</a:t>
            </a:r>
          </a:p>
          <a:p>
            <a:pPr lvl="1"/>
            <a:r>
              <a:t>特徴：常時強調表示 ＋ 即時フィードバック</a:t>
            </a:r>
          </a:p>
          <a:p>
            <a:pPr lvl="1"/>
            <a:r>
              <a:t>狙い：強制的に「正解の型」を覚えさせる（初期学習）</a:t>
            </a:r>
          </a:p>
          <a:p>
            <a:r>
              <a:t>手法2：Adaptive Guidance（アダプティブ）</a:t>
            </a:r>
          </a:p>
          <a:p>
            <a:pPr lvl="1"/>
            <a:r>
              <a:t>特徴：視線が手前に停滞している場合のみ介入</a:t>
            </a:r>
          </a:p>
          <a:p>
            <a:pPr lvl="1"/>
            <a:r>
              <a:t>狙い：依存を防ぎ、ユーザの「自律的」な視線移動を促す</a:t>
            </a:r>
          </a:p>
          <a:p>
            <a:r>
              <a:t>[ここに論文の図3.1（ガイダンス手法）を挿入]</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システム実装</a:t>
            </a:r>
          </a:p>
        </p:txBody>
      </p:sp>
      <p:sp>
        <p:nvSpPr>
          <p:cNvPr id="3" name="Content Placeholder 2"/>
          <p:cNvSpPr>
            <a:spLocks noGrp="1"/>
          </p:cNvSpPr>
          <p:nvPr>
            <p:ph idx="1"/>
          </p:nvPr>
        </p:nvSpPr>
        <p:spPr/>
        <p:txBody>
          <a:bodyPr>
            <a:normAutofit fontScale="92500" lnSpcReduction="20000"/>
          </a:bodyPr>
          <a:lstStyle/>
          <a:p>
            <a:r>
              <a:t>ハードウェア構成</a:t>
            </a:r>
          </a:p>
          <a:p>
            <a:pPr lvl="1"/>
            <a:r>
              <a:t>HMD: Meta Quest Pro（アイトラッキング内蔵）</a:t>
            </a:r>
          </a:p>
          <a:p>
            <a:pPr lvl="1"/>
            <a:r>
              <a:t>Simulator: 屋内用スキーシミュレータ（左右スライド）</a:t>
            </a:r>
          </a:p>
          <a:p>
            <a:r>
              <a:t>システムフロー</a:t>
            </a:r>
          </a:p>
          <a:p>
            <a:pPr lvl="1"/>
            <a:r>
              <a:t>視線ベクトルと旗門位置をリアルタイム判定</a:t>
            </a:r>
          </a:p>
          <a:p>
            <a:pPr lvl="1"/>
            <a:r>
              <a:t>Unity上で視覚効果（ハイライト/発光）生成</a:t>
            </a:r>
          </a:p>
          <a:p>
            <a:r>
              <a:t>コースデザイン</a:t>
            </a:r>
          </a:p>
          <a:p>
            <a:pPr lvl="1"/>
            <a:r>
              <a:t>ランダム生成により配置の記憶を防止</a:t>
            </a:r>
          </a:p>
          <a:p>
            <a:r>
              <a:t>[ここに論文の図3.3（コースデザイン）等を挿入]</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評価実験の概要</a:t>
            </a:r>
          </a:p>
        </p:txBody>
      </p:sp>
      <p:sp>
        <p:nvSpPr>
          <p:cNvPr id="3" name="Content Placeholder 2"/>
          <p:cNvSpPr>
            <a:spLocks noGrp="1"/>
          </p:cNvSpPr>
          <p:nvPr>
            <p:ph idx="1"/>
          </p:nvPr>
        </p:nvSpPr>
        <p:spPr/>
        <p:txBody>
          <a:bodyPr>
            <a:normAutofit fontScale="70000" lnSpcReduction="20000"/>
          </a:bodyPr>
          <a:lstStyle/>
          <a:p>
            <a:r>
              <a:t>目的</a:t>
            </a:r>
          </a:p>
          <a:p>
            <a:pPr lvl="1"/>
            <a:r>
              <a:t>提案手法による視線変容と滑走技能への影響を検証</a:t>
            </a:r>
          </a:p>
          <a:p>
            <a:r>
              <a:t>仮説</a:t>
            </a:r>
          </a:p>
          <a:p>
            <a:r>
              <a:t>　1. ガイダンス導入により、先読み行動の頻度が増加する</a:t>
            </a:r>
          </a:p>
          <a:p>
            <a:r>
              <a:t>　2. 先読みの定着は、旗門通過率（パフォーマンス）向上に寄与する</a:t>
            </a:r>
          </a:p>
          <a:p>
            <a:r>
              <a:t>　3. AdaptiveはTask-basedと同等の効果を持ちつつ、受容性が高い</a:t>
            </a:r>
          </a:p>
          <a:p>
            <a:r>
              <a:t>実験条件（参加者12名・カウンターバランス）</a:t>
            </a:r>
          </a:p>
          <a:p>
            <a:pPr lvl="1"/>
            <a:r>
              <a:t>Baseline（誘導なし）</a:t>
            </a:r>
          </a:p>
          <a:p>
            <a:pPr lvl="1"/>
            <a:r>
              <a:t>Task-based（常時介入）</a:t>
            </a:r>
          </a:p>
          <a:p>
            <a:pPr lvl="1"/>
            <a:r>
              <a:t>Adaptive（適応的介入）</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F7C7A-A9F7-981A-86F7-B4F7F0FBA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557527-E39B-76C1-34A1-FB061563B557}"/>
              </a:ext>
            </a:extLst>
          </p:cNvPr>
          <p:cNvSpPr>
            <a:spLocks noGrp="1"/>
          </p:cNvSpPr>
          <p:nvPr>
            <p:ph type="title"/>
          </p:nvPr>
        </p:nvSpPr>
        <p:spPr/>
        <p:txBody>
          <a:bodyPr/>
          <a:lstStyle/>
          <a:p>
            <a:r>
              <a:t>評価実験の概要</a:t>
            </a:r>
          </a:p>
        </p:txBody>
      </p:sp>
      <p:sp>
        <p:nvSpPr>
          <p:cNvPr id="3" name="Content Placeholder 2">
            <a:extLst>
              <a:ext uri="{FF2B5EF4-FFF2-40B4-BE49-F238E27FC236}">
                <a16:creationId xmlns:a16="http://schemas.microsoft.com/office/drawing/2014/main" id="{8F390D1A-1B87-9673-2A80-A8CE74829DBD}"/>
              </a:ext>
            </a:extLst>
          </p:cNvPr>
          <p:cNvSpPr>
            <a:spLocks noGrp="1"/>
          </p:cNvSpPr>
          <p:nvPr>
            <p:ph idx="1"/>
          </p:nvPr>
        </p:nvSpPr>
        <p:spPr/>
        <p:txBody>
          <a:bodyPr>
            <a:normAutofit fontScale="70000" lnSpcReduction="20000"/>
          </a:bodyPr>
          <a:lstStyle/>
          <a:p>
            <a:r>
              <a:t>目的</a:t>
            </a:r>
          </a:p>
          <a:p>
            <a:pPr lvl="1"/>
            <a:r>
              <a:t>提案手法による視線変容と滑走技能への影響を検証</a:t>
            </a:r>
          </a:p>
          <a:p>
            <a:r>
              <a:t>仮説</a:t>
            </a:r>
          </a:p>
          <a:p>
            <a:r>
              <a:t>　1. ガイダンス導入により、先読み行動の頻度が増加する</a:t>
            </a:r>
          </a:p>
          <a:p>
            <a:r>
              <a:t>　2. 先読みの定着は、旗門通過率（パフォーマンス）向上に寄与する</a:t>
            </a:r>
          </a:p>
          <a:p>
            <a:r>
              <a:t>　3. AdaptiveはTask-basedと同等の効果を持ちつつ、受容性が高い</a:t>
            </a:r>
          </a:p>
          <a:p>
            <a:r>
              <a:t>実験条件（参加者12名・カウンターバランス）</a:t>
            </a:r>
          </a:p>
          <a:p>
            <a:pPr lvl="1"/>
            <a:r>
              <a:t>Baseline（誘導なし）</a:t>
            </a:r>
          </a:p>
          <a:p>
            <a:pPr lvl="1"/>
            <a:r>
              <a:t>Task-based（常時介入）</a:t>
            </a:r>
          </a:p>
          <a:p>
            <a:pPr lvl="1"/>
            <a:r>
              <a:t>Adaptive（適応的介入）</a:t>
            </a:r>
          </a:p>
        </p:txBody>
      </p:sp>
    </p:spTree>
    <p:extLst>
      <p:ext uri="{BB962C8B-B14F-4D97-AF65-F5344CB8AC3E}">
        <p14:creationId xmlns:p14="http://schemas.microsoft.com/office/powerpoint/2010/main" val="3042362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結果：視線行動とパフォーマンス</a:t>
            </a:r>
          </a:p>
        </p:txBody>
      </p:sp>
      <p:sp>
        <p:nvSpPr>
          <p:cNvPr id="3" name="Content Placeholder 2"/>
          <p:cNvSpPr>
            <a:spLocks noGrp="1"/>
          </p:cNvSpPr>
          <p:nvPr>
            <p:ph idx="1"/>
          </p:nvPr>
        </p:nvSpPr>
        <p:spPr/>
        <p:txBody>
          <a:bodyPr>
            <a:normAutofit fontScale="92500"/>
          </a:bodyPr>
          <a:lstStyle/>
          <a:p>
            <a:r>
              <a:t>① 視線行動（先読み率の変化量）</a:t>
            </a:r>
          </a:p>
          <a:p>
            <a:pPr lvl="1"/>
            <a:r>
              <a:t>Task-based条件：Baseline/Adaptive比で有意に増加</a:t>
            </a:r>
          </a:p>
          <a:p>
            <a:pPr lvl="1"/>
            <a:r>
              <a:t>Adaptive条件：有意差なし</a:t>
            </a:r>
          </a:p>
          <a:p>
            <a:r>
              <a:t>② パフォーマンス（旗門通過率の変化量）</a:t>
            </a:r>
          </a:p>
          <a:p>
            <a:pPr lvl="1"/>
            <a:r>
              <a:t>全条件で向上傾向</a:t>
            </a:r>
          </a:p>
          <a:p>
            <a:pPr lvl="1"/>
            <a:r>
              <a:t>条件間に統計的な有意差は認められず</a:t>
            </a:r>
          </a:p>
          <a:p>
            <a:r>
              <a:t>[ここに論文の表5.4と5.1、または対応するグラフを挿入]</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671EE-C539-3AB0-93CA-FD8639921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ED597-AA23-7D20-F8B2-4B155796FBE6}"/>
              </a:ext>
            </a:extLst>
          </p:cNvPr>
          <p:cNvSpPr>
            <a:spLocks noGrp="1"/>
          </p:cNvSpPr>
          <p:nvPr>
            <p:ph type="title"/>
          </p:nvPr>
        </p:nvSpPr>
        <p:spPr/>
        <p:txBody>
          <a:bodyPr>
            <a:normAutofit fontScale="90000"/>
          </a:bodyPr>
          <a:lstStyle/>
          <a:p>
            <a:r>
              <a:t>結果：視線行動とパフォーマンス</a:t>
            </a:r>
          </a:p>
        </p:txBody>
      </p:sp>
      <p:sp>
        <p:nvSpPr>
          <p:cNvPr id="3" name="Content Placeholder 2">
            <a:extLst>
              <a:ext uri="{FF2B5EF4-FFF2-40B4-BE49-F238E27FC236}">
                <a16:creationId xmlns:a16="http://schemas.microsoft.com/office/drawing/2014/main" id="{266AB4FE-3AC3-92FA-B457-856DC953CE28}"/>
              </a:ext>
            </a:extLst>
          </p:cNvPr>
          <p:cNvSpPr>
            <a:spLocks noGrp="1"/>
          </p:cNvSpPr>
          <p:nvPr>
            <p:ph idx="1"/>
          </p:nvPr>
        </p:nvSpPr>
        <p:spPr/>
        <p:txBody>
          <a:bodyPr>
            <a:normAutofit fontScale="92500"/>
          </a:bodyPr>
          <a:lstStyle/>
          <a:p>
            <a:r>
              <a:t>① 視線行動（先読み率の変化量）</a:t>
            </a:r>
          </a:p>
          <a:p>
            <a:pPr lvl="1"/>
            <a:r>
              <a:t>Task-based条件：Baseline/Adaptive比で有意に増加</a:t>
            </a:r>
          </a:p>
          <a:p>
            <a:pPr lvl="1"/>
            <a:r>
              <a:t>Adaptive条件：有意差なし</a:t>
            </a:r>
          </a:p>
          <a:p>
            <a:r>
              <a:t>② パフォーマンス（旗門通過率の変化量）</a:t>
            </a:r>
          </a:p>
          <a:p>
            <a:pPr lvl="1"/>
            <a:r>
              <a:t>全条件で向上傾向</a:t>
            </a:r>
          </a:p>
          <a:p>
            <a:pPr lvl="1"/>
            <a:r>
              <a:t>条件間に統計的な有意差は認められず</a:t>
            </a:r>
          </a:p>
          <a:p>
            <a:r>
              <a:t>[ここに論文の表5.4と5.1、または対応するグラフを挿入]</a:t>
            </a:r>
          </a:p>
        </p:txBody>
      </p:sp>
    </p:spTree>
    <p:extLst>
      <p:ext uri="{BB962C8B-B14F-4D97-AF65-F5344CB8AC3E}">
        <p14:creationId xmlns:p14="http://schemas.microsoft.com/office/powerpoint/2010/main" val="443076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結果：主観評価と選好</a:t>
            </a:r>
          </a:p>
        </p:txBody>
      </p:sp>
      <p:sp>
        <p:nvSpPr>
          <p:cNvPr id="3" name="Content Placeholder 2"/>
          <p:cNvSpPr>
            <a:spLocks noGrp="1"/>
          </p:cNvSpPr>
          <p:nvPr>
            <p:ph idx="1"/>
          </p:nvPr>
        </p:nvSpPr>
        <p:spPr/>
        <p:txBody>
          <a:bodyPr/>
          <a:lstStyle/>
          <a:p>
            <a:r>
              <a:t>③ アンケート結果</a:t>
            </a:r>
          </a:p>
          <a:p>
            <a:pPr lvl="1"/>
            <a:r>
              <a:t>Task-based：「役立った」等で高評価だが、「強制力」も高い</a:t>
            </a:r>
          </a:p>
          <a:p>
            <a:r>
              <a:t>④ 総合的な選好</a:t>
            </a:r>
          </a:p>
          <a:p>
            <a:pPr lvl="1"/>
            <a:r>
              <a:t>Adaptive条件が、Baseline比で有意に好まれた</a:t>
            </a:r>
          </a:p>
          <a:p>
            <a:pPr lvl="1"/>
            <a:r>
              <a:t>Task-basedは好みが分かれる結果</a:t>
            </a:r>
          </a:p>
          <a:p>
            <a:r>
              <a:t>[ここに論文の図5.5（リッカート）と5.6（選好）を挿入]</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考察：仮説の検証</a:t>
            </a:r>
          </a:p>
        </p:txBody>
      </p:sp>
      <p:sp>
        <p:nvSpPr>
          <p:cNvPr id="3" name="Content Placeholder 2"/>
          <p:cNvSpPr>
            <a:spLocks noGrp="1"/>
          </p:cNvSpPr>
          <p:nvPr>
            <p:ph idx="1"/>
          </p:nvPr>
        </p:nvSpPr>
        <p:spPr/>
        <p:txBody>
          <a:bodyPr>
            <a:normAutofit fontScale="85000" lnSpcReduction="20000"/>
          </a:bodyPr>
          <a:lstStyle/>
          <a:p>
            <a:r>
              <a:t>仮説1（視線変容）：一部支持</a:t>
            </a:r>
          </a:p>
          <a:p>
            <a:pPr lvl="1"/>
            <a:r>
              <a:t>強制力の強いTask-basedのみ有効</a:t>
            </a:r>
          </a:p>
          <a:p>
            <a:pPr lvl="1"/>
            <a:r>
              <a:t>Adaptiveは初期段階の初心者には刺激不足の可能性</a:t>
            </a:r>
          </a:p>
          <a:p>
            <a:r>
              <a:t>仮説2（パフォーマンス寄与）：支持されず</a:t>
            </a:r>
          </a:p>
          <a:p>
            <a:pPr lvl="1"/>
            <a:r>
              <a:t>視線は変わったが、身体動作（ターン）への変換に時間的ラグ</a:t>
            </a:r>
          </a:p>
          <a:p>
            <a:pPr lvl="1"/>
            <a:r>
              <a:t>「場所」だけでなく「タイミング」や身体連携の支援不足</a:t>
            </a:r>
          </a:p>
          <a:p>
            <a:r>
              <a:t>仮説3（Adaptiveの有効性）：受容性のみ支持</a:t>
            </a:r>
          </a:p>
          <a:p>
            <a:pPr lvl="1"/>
            <a:r>
              <a:t>行動変容効果は低かったが、UXとしては優れていた</a:t>
            </a:r>
          </a:p>
          <a:p>
            <a:pPr lvl="1"/>
            <a:r>
              <a:t>トレードオフ：「矯正効果(Task)」vs「体験・自律(Adaptive)」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議論・今後の展望</a:t>
            </a:r>
          </a:p>
        </p:txBody>
      </p:sp>
      <p:sp>
        <p:nvSpPr>
          <p:cNvPr id="3" name="Content Placeholder 2"/>
          <p:cNvSpPr>
            <a:spLocks noGrp="1"/>
          </p:cNvSpPr>
          <p:nvPr>
            <p:ph idx="1"/>
          </p:nvPr>
        </p:nvSpPr>
        <p:spPr/>
        <p:txBody>
          <a:bodyPr>
            <a:normAutofit lnSpcReduction="10000"/>
          </a:bodyPr>
          <a:lstStyle/>
          <a:p>
            <a:r>
              <a:t>今後の課題</a:t>
            </a:r>
          </a:p>
          <a:p>
            <a:pPr lvl="1"/>
            <a:r>
              <a:t>視線行動と滑走パフォーマンスの乖離を埋める</a:t>
            </a:r>
          </a:p>
          <a:p>
            <a:r>
              <a:t>展望</a:t>
            </a:r>
          </a:p>
          <a:p>
            <a:pPr lvl="1"/>
            <a:r>
              <a:t>タイミングの支援：聴覚刺激（リズム）や熟練者ゴーストの導入</a:t>
            </a:r>
          </a:p>
          <a:p>
            <a:pPr lvl="1"/>
            <a:r>
              <a:t>長期的な検証：運動学習の定着プロセスを確認</a:t>
            </a:r>
          </a:p>
          <a:p>
            <a:pPr lvl="1"/>
            <a:r>
              <a:t>実環境への応用：ARグラス等を用いたゲレンデでの支援</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結論</a:t>
            </a:r>
          </a:p>
        </p:txBody>
      </p:sp>
      <p:sp>
        <p:nvSpPr>
          <p:cNvPr id="3" name="Content Placeholder 2"/>
          <p:cNvSpPr>
            <a:spLocks noGrp="1"/>
          </p:cNvSpPr>
          <p:nvPr>
            <p:ph idx="1"/>
          </p:nvPr>
        </p:nvSpPr>
        <p:spPr/>
        <p:txBody>
          <a:bodyPr>
            <a:normAutofit lnSpcReduction="10000"/>
          </a:bodyPr>
          <a:lstStyle/>
          <a:p>
            <a:r>
              <a:t>結論</a:t>
            </a:r>
          </a:p>
          <a:p>
            <a:pPr lvl="1"/>
            <a:r>
              <a:t>VR視線誘導は初心者の「先読み」変容に有効</a:t>
            </a:r>
          </a:p>
          <a:p>
            <a:pPr lvl="1"/>
            <a:r>
              <a:t>Task-based（常時介入）が高い行動変容効果</a:t>
            </a:r>
          </a:p>
          <a:p>
            <a:pPr lvl="1"/>
            <a:r>
              <a:t>ユーザはAdaptive（適応的介入）を選好する傾向</a:t>
            </a:r>
          </a:p>
          <a:p>
            <a:pPr lvl="1"/>
            <a:r>
              <a:t>学習フェーズに応じた使い分けが重要</a:t>
            </a:r>
          </a:p>
          <a:p>
            <a:r>
              <a:t>社会的意義</a:t>
            </a:r>
          </a:p>
          <a:p>
            <a:pPr lvl="1"/>
            <a:r>
              <a:t>知覚スキル（視線）と身体動作をつなぐ新たな設計指針を提供</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03F89-55BB-B2BA-2287-A613A1F5D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C82DA-6D7A-5749-1F07-1850D1564386}"/>
              </a:ext>
            </a:extLst>
          </p:cNvPr>
          <p:cNvSpPr>
            <a:spLocks noGrp="1"/>
          </p:cNvSpPr>
          <p:nvPr>
            <p:ph type="title"/>
          </p:nvPr>
        </p:nvSpPr>
        <p:spPr/>
        <p:txBody>
          <a:bodyPr/>
          <a:lstStyle/>
          <a:p>
            <a:r>
              <a:t>結論</a:t>
            </a:r>
          </a:p>
        </p:txBody>
      </p:sp>
      <p:sp>
        <p:nvSpPr>
          <p:cNvPr id="3" name="Content Placeholder 2">
            <a:extLst>
              <a:ext uri="{FF2B5EF4-FFF2-40B4-BE49-F238E27FC236}">
                <a16:creationId xmlns:a16="http://schemas.microsoft.com/office/drawing/2014/main" id="{7D8F4B57-1D7A-1DE2-3E88-7BA4DD5AAF6E}"/>
              </a:ext>
            </a:extLst>
          </p:cNvPr>
          <p:cNvSpPr>
            <a:spLocks noGrp="1"/>
          </p:cNvSpPr>
          <p:nvPr>
            <p:ph idx="1"/>
          </p:nvPr>
        </p:nvSpPr>
        <p:spPr/>
        <p:txBody>
          <a:bodyPr>
            <a:normAutofit lnSpcReduction="10000"/>
          </a:bodyPr>
          <a:lstStyle/>
          <a:p>
            <a:r>
              <a:t>結論</a:t>
            </a:r>
          </a:p>
          <a:p>
            <a:pPr lvl="1"/>
            <a:r>
              <a:t>VR視線誘導は初心者の「先読み」変容に有効</a:t>
            </a:r>
          </a:p>
          <a:p>
            <a:pPr lvl="1"/>
            <a:r>
              <a:t>Task-based（常時介入）が高い行動変容効果</a:t>
            </a:r>
          </a:p>
          <a:p>
            <a:pPr lvl="1"/>
            <a:r>
              <a:t>ユーザはAdaptive（適応的介入）を選好する傾向</a:t>
            </a:r>
          </a:p>
          <a:p>
            <a:pPr lvl="1"/>
            <a:r>
              <a:t>学習フェーズに応じた使い分けが重要</a:t>
            </a:r>
          </a:p>
          <a:p>
            <a:r>
              <a:t>社会的意義</a:t>
            </a:r>
          </a:p>
          <a:p>
            <a:pPr lvl="1"/>
            <a:r>
              <a:t>知覚スキル（視線）と身体動作をつなぐ新たな設計指針を提供</a:t>
            </a:r>
          </a:p>
        </p:txBody>
      </p:sp>
    </p:spTree>
    <p:extLst>
      <p:ext uri="{BB962C8B-B14F-4D97-AF65-F5344CB8AC3E}">
        <p14:creationId xmlns:p14="http://schemas.microsoft.com/office/powerpoint/2010/main" val="8901930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2934</TotalTime>
  <Words>1979</Words>
  <Application>Microsoft Macintosh PowerPoint</Application>
  <PresentationFormat>画面に合わせる (4:3)</PresentationFormat>
  <Paragraphs>203</Paragraphs>
  <Slides>15</Slides>
  <Notes>15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15</vt:i4>
      </vt:variant>
    </vt:vector>
  </HeadingPairs>
  <TitlesOfParts>
    <vt:vector size="18" baseType="lpstr">
      <vt:lpstr>Arial</vt:lpstr>
      <vt:lpstr>Calibri</vt:lpstr>
      <vt:lpstr>Office Theme</vt:lpstr>
      <vt:lpstr>視線誘導を用いたVRアルペンスキー トレーニングシステムに関する研究</vt:lpstr>
      <vt:lpstr>研究背景：スキーにおける視線と課題</vt:lpstr>
      <vt:lpstr>関連研究と本研究のアプローチ</vt:lpstr>
      <vt:lpstr>研究目的</vt:lpstr>
      <vt:lpstr>提案手法：2種類のガイダンス</vt:lpstr>
      <vt:lpstr>システム実装</vt:lpstr>
      <vt:lpstr>評価実験の概要</vt:lpstr>
      <vt:lpstr>評価実験の概要</vt:lpstr>
      <vt:lpstr>結果：視線行動とパフォーマンス</vt:lpstr>
      <vt:lpstr>結果：視線行動とパフォーマンス</vt:lpstr>
      <vt:lpstr>結果：主観評価と選好</vt:lpstr>
      <vt:lpstr>考察：仮説の検証</vt:lpstr>
      <vt:lpstr>議論・今後の展望</vt:lpstr>
      <vt:lpstr>結論</vt:lpstr>
      <vt:lpstr>結論</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木原 英一 / EIICHI KIHARA</cp:lastModifiedBy>
  <cp:revision>3</cp:revision>
  <dcterms:created xsi:type="dcterms:W3CDTF">2013-01-27T09:14:16Z</dcterms:created>
  <dcterms:modified xsi:type="dcterms:W3CDTF">2026-02-04T02:04:35Z</dcterms:modified>
  <cp:category/>
</cp:coreProperties>
</file>